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7772400" cy="10058400"/>
  <p:notesSz cx="6858000" cy="9144000"/>
  <p:embeddedFontLst>
    <p:embeddedFont>
      <p:font typeface="Arimo" panose="020B0604020202020204" charset="0"/>
      <p:regular r:id="rId4"/>
    </p:embeddedFont>
    <p:embeddedFont>
      <p:font typeface="Inter" panose="020B0604020202020204" charset="0"/>
      <p:regular r:id="rId5"/>
    </p:embeddedFont>
    <p:embeddedFont>
      <p:font typeface="Inter Bold" panose="020B0604020202020204" charset="0"/>
      <p:regular r:id="rId6"/>
    </p:embeddedFont>
    <p:embeddedFont>
      <p:font typeface="Inter Italics" panose="020B0604020202020204" charset="0"/>
      <p:regular r:id="rId7"/>
    </p:embeddedFont>
    <p:embeddedFont>
      <p:font typeface="Inter Semi-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50" d="100"/>
          <a:sy n="150" d="100"/>
        </p:scale>
        <p:origin x="112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bdenour-hellas.onlin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49356" y="1656176"/>
            <a:ext cx="6265333" cy="0"/>
          </a:xfrm>
          <a:prstGeom prst="line">
            <a:avLst/>
          </a:prstGeom>
          <a:ln w="28575" cap="rnd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Box 3"/>
          <p:cNvSpPr txBox="1"/>
          <p:nvPr/>
        </p:nvSpPr>
        <p:spPr>
          <a:xfrm>
            <a:off x="749356" y="2134648"/>
            <a:ext cx="6265333" cy="652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08"/>
              </a:lnSpc>
              <a:spcBef>
                <a:spcPct val="0"/>
              </a:spcBef>
            </a:pP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Spécialiste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génie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électrique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avec double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compétence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développement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web,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orienté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vers la conception de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systèmes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électriques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collaboratifs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et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l'automatisation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industrielle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. 5+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ans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d'expérience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internationale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(Algérie, Canada)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maintenance, supervision et conception.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Passionné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par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l'innovation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énergétique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et les solutions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numériques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. Recherche des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opportunités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à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l'international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356" y="419416"/>
            <a:ext cx="6265333" cy="425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24"/>
              </a:lnSpc>
              <a:spcBef>
                <a:spcPct val="0"/>
              </a:spcBef>
            </a:pPr>
            <a:r>
              <a:rPr lang="en-US" sz="2445" b="1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ABDENOUR HELLAS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9356" y="1177134"/>
            <a:ext cx="6265333" cy="166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8"/>
              </a:lnSpc>
              <a:spcBef>
                <a:spcPct val="0"/>
              </a:spcBef>
            </a:pP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Nouveau-Brunswick, Canada |  abdenour.hellas@uqat.ca | +1 418 350 5686 |  https://abdenour-hellas.online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9356" y="867729"/>
            <a:ext cx="6265333" cy="275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8"/>
              </a:lnSpc>
              <a:spcBef>
                <a:spcPct val="0"/>
              </a:spcBef>
            </a:pPr>
            <a:r>
              <a:rPr lang="en-US" sz="1599" b="1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SPÉCIALISTE EN GÉNIE ÉLECTRIQUE &amp; DÉVELOPPEMENT WEB</a:t>
            </a:r>
          </a:p>
        </p:txBody>
      </p:sp>
      <p:sp>
        <p:nvSpPr>
          <p:cNvPr id="7" name="AutoShape 7"/>
          <p:cNvSpPr/>
          <p:nvPr/>
        </p:nvSpPr>
        <p:spPr>
          <a:xfrm>
            <a:off x="749356" y="3099848"/>
            <a:ext cx="6265333" cy="0"/>
          </a:xfrm>
          <a:prstGeom prst="line">
            <a:avLst/>
          </a:prstGeom>
          <a:ln w="9525" cap="rnd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Box 8"/>
          <p:cNvSpPr txBox="1"/>
          <p:nvPr/>
        </p:nvSpPr>
        <p:spPr>
          <a:xfrm>
            <a:off x="5321356" y="5408033"/>
            <a:ext cx="1693333" cy="166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08"/>
              </a:lnSpc>
              <a:spcBef>
                <a:spcPct val="0"/>
              </a:spcBef>
            </a:pPr>
            <a:r>
              <a:rPr lang="en-US" sz="934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nov 2018 -août 2019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9356" y="5406838"/>
            <a:ext cx="4233333" cy="181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8"/>
              </a:lnSpc>
              <a:spcBef>
                <a:spcPct val="0"/>
              </a:spcBef>
            </a:pPr>
            <a:r>
              <a:rPr lang="en-US" sz="1034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Électricien Industriel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9356" y="5782325"/>
            <a:ext cx="6299050" cy="652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1828" lvl="1" indent="-100914" algn="l">
              <a:lnSpc>
                <a:spcPts val="1308"/>
              </a:lnSpc>
              <a:buFont typeface="Arial"/>
              <a:buChar char="•"/>
            </a:pPr>
            <a:r>
              <a:rPr lang="en-US" sz="934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Montage, réparation et entretien des circuits électriques, tableaux de distribution et dispositifs de commande. </a:t>
            </a:r>
          </a:p>
          <a:p>
            <a:pPr marL="201828" lvl="1" indent="-100914" algn="l">
              <a:lnSpc>
                <a:spcPts val="1308"/>
              </a:lnSpc>
              <a:buFont typeface="Arial"/>
              <a:buChar char="•"/>
            </a:pPr>
            <a:r>
              <a:rPr lang="en-US" sz="934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Diagnostic et résolution des dysfonctionnements (surchauffe, courts-circuits, défauts d'isolation).</a:t>
            </a:r>
          </a:p>
          <a:p>
            <a:pPr marL="201828" lvl="1" indent="-100914" algn="l">
              <a:lnSpc>
                <a:spcPts val="1308"/>
              </a:lnSpc>
              <a:buFont typeface="Arial"/>
              <a:buChar char="•"/>
            </a:pPr>
            <a:r>
              <a:rPr lang="en-US" sz="934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Rédaction des rapports d'intervention et mise à jour des schémas électriques.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21356" y="3139672"/>
            <a:ext cx="1693333" cy="166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08"/>
              </a:lnSpc>
              <a:spcBef>
                <a:spcPct val="0"/>
              </a:spcBef>
            </a:pPr>
            <a:r>
              <a:rPr lang="en-US" sz="934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déc 2025 -mars 2026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356" y="3138478"/>
            <a:ext cx="2133525" cy="181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8"/>
              </a:lnSpc>
              <a:spcBef>
                <a:spcPct val="0"/>
              </a:spcBef>
            </a:pPr>
            <a:r>
              <a:rPr lang="en-US" sz="1034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Technicien en Génie Électrique 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356" y="3503245"/>
            <a:ext cx="6237051" cy="81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1828" lvl="1" indent="-100914" algn="l">
              <a:lnSpc>
                <a:spcPts val="1308"/>
              </a:lnSpc>
              <a:buFont typeface="Arial"/>
              <a:buChar char="•"/>
            </a:pPr>
            <a:r>
              <a:rPr lang="en-US" sz="934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Conception et maintenance du système collaboratif électrique TCOST (normes, standards, options de configuration). </a:t>
            </a:r>
          </a:p>
          <a:p>
            <a:pPr marL="201828" lvl="1" indent="-100914" algn="l">
              <a:lnSpc>
                <a:spcPts val="1308"/>
              </a:lnSpc>
              <a:buFont typeface="Arial"/>
              <a:buChar char="•"/>
            </a:pPr>
            <a:r>
              <a:rPr lang="en-US" sz="934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Développement d'une bibliothèque numérique complète : produits, prix, spécifications techniques, codes applicables. </a:t>
            </a:r>
          </a:p>
          <a:p>
            <a:pPr marL="201828" lvl="1" indent="-100914" algn="l">
              <a:lnSpc>
                <a:spcPts val="1308"/>
              </a:lnSpc>
              <a:buFont typeface="Arial"/>
              <a:buChar char="•"/>
            </a:pPr>
            <a:r>
              <a:rPr lang="en-US" sz="934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Intégration de solutions innovantes : systèmes intelligents, efficacité énergétique, automatisations.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356" y="2874125"/>
            <a:ext cx="6265333" cy="197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0"/>
              </a:lnSpc>
              <a:spcBef>
                <a:spcPct val="0"/>
              </a:spcBef>
            </a:pPr>
            <a:r>
              <a:rPr lang="en-US" sz="1128" b="1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EXPÉRIENCE PROFESSIONNELLE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49356" y="2060176"/>
            <a:ext cx="6265333" cy="0"/>
          </a:xfrm>
          <a:prstGeom prst="line">
            <a:avLst/>
          </a:prstGeom>
          <a:ln w="9525" cap="rnd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CA"/>
          </a:p>
        </p:txBody>
      </p:sp>
      <p:sp>
        <p:nvSpPr>
          <p:cNvPr id="16" name="TextBox 16"/>
          <p:cNvSpPr txBox="1"/>
          <p:nvPr/>
        </p:nvSpPr>
        <p:spPr>
          <a:xfrm>
            <a:off x="749356" y="1834453"/>
            <a:ext cx="6265333" cy="197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0"/>
              </a:lnSpc>
              <a:spcBef>
                <a:spcPct val="0"/>
              </a:spcBef>
            </a:pPr>
            <a:r>
              <a:rPr lang="en-US" sz="1128" b="1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PROFIL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3073" y="3300929"/>
            <a:ext cx="2428172" cy="18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8"/>
              </a:lnSpc>
              <a:spcBef>
                <a:spcPct val="0"/>
              </a:spcBef>
            </a:pPr>
            <a:r>
              <a:rPr lang="en-US" sz="1034" i="1">
                <a:solidFill>
                  <a:srgbClr val="1E1E1E"/>
                </a:solidFill>
                <a:latin typeface="Inter Italics"/>
                <a:ea typeface="Inter Italics"/>
                <a:cs typeface="Inter Italics"/>
                <a:sym typeface="Inter Italics"/>
              </a:rPr>
              <a:t>Maisons Laprise, Québec, Canada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3073" y="5560960"/>
            <a:ext cx="2428172" cy="18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8"/>
              </a:lnSpc>
              <a:spcBef>
                <a:spcPct val="0"/>
              </a:spcBef>
            </a:pPr>
            <a:r>
              <a:rPr lang="en-US" sz="1034" i="1">
                <a:solidFill>
                  <a:srgbClr val="1E1E1E"/>
                </a:solidFill>
                <a:latin typeface="Inter Italics"/>
                <a:ea typeface="Inter Italics"/>
                <a:cs typeface="Inter Italics"/>
                <a:sym typeface="Inter Italics"/>
              </a:rPr>
              <a:t>ENTP, In-Ame</a:t>
            </a:r>
            <a:r>
              <a:rPr lang="en-US" sz="1034" i="1" u="none" strike="noStrike">
                <a:solidFill>
                  <a:srgbClr val="1E1E1E"/>
                </a:solidFill>
                <a:latin typeface="Inter Italics"/>
                <a:ea typeface="Inter Italics"/>
                <a:cs typeface="Inter Italics"/>
                <a:sym typeface="Inter Italics"/>
              </a:rPr>
              <a:t>nas, Algérie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093980" y="6531301"/>
            <a:ext cx="2920710" cy="166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08"/>
              </a:lnSpc>
              <a:spcBef>
                <a:spcPct val="0"/>
              </a:spcBef>
            </a:pPr>
            <a:r>
              <a:rPr lang="en-US" sz="934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 en parallèle/temps partiel</a:t>
            </a:r>
            <a:r>
              <a:rPr lang="en-US" sz="934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  jan 2017-déc 2019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9356" y="6530106"/>
            <a:ext cx="4233333" cy="181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8"/>
              </a:lnSpc>
              <a:spcBef>
                <a:spcPct val="0"/>
              </a:spcBef>
            </a:pPr>
            <a:r>
              <a:rPr lang="en-US" sz="1034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Stages Techniques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9356" y="6876280"/>
            <a:ext cx="6299050" cy="328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1828" lvl="1" indent="-100914" algn="l">
              <a:lnSpc>
                <a:spcPts val="1308"/>
              </a:lnSpc>
              <a:buFont typeface="Arial"/>
              <a:buChar char="•"/>
            </a:pPr>
            <a:r>
              <a:rPr lang="en-US" sz="934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Maintenance préventive/corrective des équipements électriques et industriels.</a:t>
            </a:r>
          </a:p>
          <a:p>
            <a:pPr marL="201828" lvl="1" indent="-100914" algn="l">
              <a:lnSpc>
                <a:spcPts val="1308"/>
              </a:lnSpc>
              <a:buFont typeface="Arial"/>
              <a:buChar char="•"/>
            </a:pPr>
            <a:r>
              <a:rPr lang="en-US" sz="934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Inspection qualité, supervision travaux, gestion des stocks de pièces de rechange.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3073" y="6684227"/>
            <a:ext cx="3398774" cy="18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8"/>
              </a:lnSpc>
              <a:spcBef>
                <a:spcPct val="0"/>
              </a:spcBef>
            </a:pPr>
            <a:r>
              <a:rPr lang="en-US" sz="1034" i="1">
                <a:solidFill>
                  <a:srgbClr val="1E1E1E"/>
                </a:solidFill>
                <a:latin typeface="Inter Italics"/>
                <a:ea typeface="Inter Italics"/>
                <a:cs typeface="Inter Italics"/>
                <a:sym typeface="Inter Italics"/>
              </a:rPr>
              <a:t>GTP / SNP / Complexe I</a:t>
            </a:r>
            <a:r>
              <a:rPr lang="en-US" sz="1034" i="1" u="none" strike="noStrike">
                <a:solidFill>
                  <a:srgbClr val="1E1E1E"/>
                </a:solidFill>
                <a:latin typeface="Inter Italics"/>
                <a:ea typeface="Inter Italics"/>
                <a:cs typeface="Inter Italics"/>
                <a:sym typeface="Inter Italics"/>
              </a:rPr>
              <a:t>ndustriel TDA, Algérie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21356" y="4347470"/>
            <a:ext cx="1693333" cy="166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08"/>
              </a:lnSpc>
              <a:spcBef>
                <a:spcPct val="0"/>
              </a:spcBef>
            </a:pPr>
            <a:r>
              <a:rPr lang="en-US" sz="934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juin 2023 -nov 2025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9356" y="4346275"/>
            <a:ext cx="4233333" cy="181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8"/>
              </a:lnSpc>
              <a:spcBef>
                <a:spcPct val="0"/>
              </a:spcBef>
            </a:pPr>
            <a:r>
              <a:rPr lang="en-US" sz="1034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Superviseur Département Électroménagers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83073" y="4500397"/>
            <a:ext cx="3398774" cy="18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8"/>
              </a:lnSpc>
              <a:spcBef>
                <a:spcPct val="0"/>
              </a:spcBef>
            </a:pPr>
            <a:r>
              <a:rPr lang="en-US" sz="1034" i="1">
                <a:solidFill>
                  <a:srgbClr val="1E1E1E"/>
                </a:solidFill>
                <a:latin typeface="Inter Italics"/>
                <a:ea typeface="Inter Italics"/>
                <a:cs typeface="Inter Italics"/>
                <a:sym typeface="Inter Italics"/>
              </a:rPr>
              <a:t>RONA, Rouyn-Nora</a:t>
            </a:r>
            <a:r>
              <a:rPr lang="en-US" sz="1034" i="1" u="none" strike="noStrike">
                <a:solidFill>
                  <a:srgbClr val="1E1E1E"/>
                </a:solidFill>
                <a:latin typeface="Inter Italics"/>
                <a:ea typeface="Inter Italics"/>
                <a:cs typeface="Inter Italics"/>
                <a:sym typeface="Inter Italics"/>
              </a:rPr>
              <a:t>nda, Canada</a:t>
            </a:r>
          </a:p>
        </p:txBody>
      </p:sp>
      <p:sp>
        <p:nvSpPr>
          <p:cNvPr id="26" name="AutoShape 26"/>
          <p:cNvSpPr/>
          <p:nvPr/>
        </p:nvSpPr>
        <p:spPr>
          <a:xfrm>
            <a:off x="749356" y="7544288"/>
            <a:ext cx="6265333" cy="0"/>
          </a:xfrm>
          <a:prstGeom prst="line">
            <a:avLst/>
          </a:prstGeom>
          <a:ln w="9525" cap="rnd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CA"/>
          </a:p>
        </p:txBody>
      </p:sp>
      <p:sp>
        <p:nvSpPr>
          <p:cNvPr id="27" name="TextBox 27"/>
          <p:cNvSpPr txBox="1"/>
          <p:nvPr/>
        </p:nvSpPr>
        <p:spPr>
          <a:xfrm>
            <a:off x="5321356" y="7587150"/>
            <a:ext cx="1693333" cy="153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08"/>
              </a:lnSpc>
              <a:spcBef>
                <a:spcPct val="0"/>
              </a:spcBef>
            </a:pPr>
            <a:r>
              <a:rPr lang="en-US" sz="934" b="1" dirty="0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juin-2025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9356" y="7582917"/>
            <a:ext cx="4233333" cy="181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8"/>
              </a:lnSpc>
              <a:spcBef>
                <a:spcPct val="0"/>
              </a:spcBef>
            </a:pPr>
            <a:r>
              <a:rPr lang="en-US" sz="1034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M.Eng. Génie Électrique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9356" y="7763920"/>
            <a:ext cx="5994400" cy="18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8"/>
              </a:lnSpc>
              <a:spcBef>
                <a:spcPct val="0"/>
              </a:spcBef>
            </a:pPr>
            <a:r>
              <a:rPr lang="en-US" sz="1034" i="1" u="none" strike="noStrike">
                <a:solidFill>
                  <a:srgbClr val="1E1E1E"/>
                </a:solidFill>
                <a:latin typeface="Inter Italics"/>
                <a:ea typeface="Inter Italics"/>
                <a:cs typeface="Inter Italics"/>
                <a:sym typeface="Inter Italics"/>
              </a:rPr>
              <a:t>UQAT, Rouyn-Noranda, Canada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9356" y="7318564"/>
            <a:ext cx="6265333" cy="197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0"/>
              </a:lnSpc>
              <a:spcBef>
                <a:spcPct val="0"/>
              </a:spcBef>
            </a:pPr>
            <a:r>
              <a:rPr lang="en-US" sz="1128" b="1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EDUCATION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17104" y="7928136"/>
            <a:ext cx="1693333" cy="153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08"/>
              </a:lnSpc>
              <a:spcBef>
                <a:spcPct val="0"/>
              </a:spcBef>
            </a:pPr>
            <a:r>
              <a:rPr lang="en-US" sz="934" b="1" dirty="0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juin-2020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5104" y="7980704"/>
            <a:ext cx="4233333" cy="181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8"/>
              </a:lnSpc>
              <a:spcBef>
                <a:spcPct val="0"/>
              </a:spcBef>
            </a:pPr>
            <a:r>
              <a:rPr lang="en-US" sz="1034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Master Électromécanique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5104" y="8161707"/>
            <a:ext cx="5994400" cy="18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8"/>
              </a:lnSpc>
              <a:spcBef>
                <a:spcPct val="0"/>
              </a:spcBef>
            </a:pPr>
            <a:r>
              <a:rPr lang="en-US" sz="1034" i="1">
                <a:solidFill>
                  <a:srgbClr val="1E1E1E"/>
                </a:solidFill>
                <a:latin typeface="Inter Italics"/>
                <a:ea typeface="Inter Italics"/>
                <a:cs typeface="Inter Italics"/>
                <a:sym typeface="Inter Italics"/>
              </a:rPr>
              <a:t>Université de Batna2, Algérie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321356" y="8325923"/>
            <a:ext cx="1693333" cy="153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08"/>
              </a:lnSpc>
              <a:spcBef>
                <a:spcPct val="0"/>
              </a:spcBef>
            </a:pPr>
            <a:r>
              <a:rPr lang="en-US" sz="934" b="1" dirty="0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juin-2018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9356" y="8378492"/>
            <a:ext cx="4233333" cy="181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8"/>
              </a:lnSpc>
              <a:spcBef>
                <a:spcPct val="0"/>
              </a:spcBef>
            </a:pPr>
            <a:r>
              <a:rPr lang="en-US" sz="1034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Licence Électromécanique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9356" y="8559495"/>
            <a:ext cx="5994400" cy="18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8"/>
              </a:lnSpc>
              <a:spcBef>
                <a:spcPct val="0"/>
              </a:spcBef>
            </a:pPr>
            <a:r>
              <a:rPr lang="en-US" sz="1034" i="1" u="none" strike="noStrike">
                <a:solidFill>
                  <a:srgbClr val="1E1E1E"/>
                </a:solidFill>
                <a:latin typeface="Inter Italics"/>
                <a:ea typeface="Inter Italics"/>
                <a:cs typeface="Inter Italics"/>
                <a:sym typeface="Inter Italics"/>
              </a:rPr>
              <a:t>Université de Batna2, Algérie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444340" y="8774127"/>
            <a:ext cx="2574527" cy="15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08"/>
              </a:lnSpc>
              <a:spcBef>
                <a:spcPct val="0"/>
              </a:spcBef>
            </a:pP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parallèle</a:t>
            </a: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/temps </a:t>
            </a:r>
            <a:r>
              <a:rPr lang="en-US" sz="934" dirty="0" err="1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partiel</a:t>
            </a:r>
            <a:r>
              <a:rPr lang="en-US" sz="934" b="1" dirty="0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  sept-2022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3533" y="8766754"/>
            <a:ext cx="4233333" cy="181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8"/>
              </a:lnSpc>
              <a:spcBef>
                <a:spcPct val="0"/>
              </a:spcBef>
            </a:pPr>
            <a:r>
              <a:rPr lang="en-US" sz="1034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Technicien Supérieur Informatique-Réseaux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53533" y="8947757"/>
            <a:ext cx="5994400" cy="18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8"/>
              </a:lnSpc>
              <a:spcBef>
                <a:spcPct val="0"/>
              </a:spcBef>
            </a:pPr>
            <a:r>
              <a:rPr lang="en-US" sz="1034" i="1">
                <a:solidFill>
                  <a:srgbClr val="1E1E1E"/>
                </a:solidFill>
                <a:latin typeface="Inter Italics"/>
                <a:ea typeface="Inter Italics"/>
                <a:cs typeface="Inter Italics"/>
                <a:sym typeface="Inter Italics"/>
              </a:rPr>
              <a:t>CFPA, Algérie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329785" y="9169123"/>
            <a:ext cx="1693333" cy="153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08"/>
              </a:lnSpc>
              <a:spcBef>
                <a:spcPct val="0"/>
              </a:spcBef>
            </a:pPr>
            <a:r>
              <a:rPr lang="en-US" sz="934" b="1" dirty="0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juin-2015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7785" y="9164541"/>
            <a:ext cx="4233333" cy="181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8"/>
              </a:lnSpc>
              <a:spcBef>
                <a:spcPct val="0"/>
              </a:spcBef>
            </a:pPr>
            <a:r>
              <a:rPr lang="en-US" sz="1034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Baccalauréat en Science Expérimentale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7785" y="9345544"/>
            <a:ext cx="5994400" cy="18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8"/>
              </a:lnSpc>
              <a:spcBef>
                <a:spcPct val="0"/>
              </a:spcBef>
            </a:pPr>
            <a:r>
              <a:rPr lang="en-US" sz="1034" i="1">
                <a:solidFill>
                  <a:srgbClr val="1E1E1E"/>
                </a:solidFill>
                <a:latin typeface="Inter Italics"/>
                <a:ea typeface="Inter Italics"/>
                <a:cs typeface="Inter Italics"/>
                <a:sym typeface="Inter Italics"/>
              </a:rPr>
              <a:t>Lycée kser belezma,</a:t>
            </a:r>
            <a:r>
              <a:rPr lang="en-US" sz="1034" i="1" u="none" strike="noStrike">
                <a:solidFill>
                  <a:srgbClr val="1E1E1E"/>
                </a:solidFill>
                <a:latin typeface="Inter Italics"/>
                <a:ea typeface="Inter Italics"/>
                <a:cs typeface="Inter Italics"/>
                <a:sym typeface="Inter Italics"/>
              </a:rPr>
              <a:t> Batna, Algérie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66215" y="1381990"/>
            <a:ext cx="6265333" cy="166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8"/>
              </a:lnSpc>
              <a:spcBef>
                <a:spcPct val="0"/>
              </a:spcBef>
            </a:pPr>
            <a:r>
              <a:rPr lang="en-US" sz="934" dirty="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https://www.linkedin.com/in/abdenour-hellas/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321356" y="4799853"/>
            <a:ext cx="1693333" cy="166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08"/>
              </a:lnSpc>
              <a:spcBef>
                <a:spcPct val="0"/>
              </a:spcBef>
            </a:pPr>
            <a:r>
              <a:rPr lang="en-US" sz="934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fév 2022-août 2022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49356" y="4798659"/>
            <a:ext cx="4233333" cy="181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8"/>
              </a:lnSpc>
              <a:spcBef>
                <a:spcPct val="0"/>
              </a:spcBef>
            </a:pPr>
            <a:r>
              <a:rPr lang="en-US" sz="1034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Prof d'enseignement, secondaire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49356" y="5144833"/>
            <a:ext cx="6299050" cy="166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1828" lvl="1" indent="-100914" algn="l">
              <a:lnSpc>
                <a:spcPts val="1308"/>
              </a:lnSpc>
              <a:buFont typeface="Arial"/>
              <a:buChar char="•"/>
            </a:pPr>
            <a:r>
              <a:rPr lang="en-US" sz="934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Évaluer les progrès des élèves à travers tests et devoirs, fournir un retour constructif pour aider progresser.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83073" y="4952780"/>
            <a:ext cx="3398774" cy="18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8"/>
              </a:lnSpc>
              <a:spcBef>
                <a:spcPct val="0"/>
              </a:spcBef>
            </a:pPr>
            <a:r>
              <a:rPr lang="en-US" sz="1034" i="1">
                <a:solidFill>
                  <a:srgbClr val="1E1E1E"/>
                </a:solidFill>
                <a:latin typeface="Inter Italics"/>
                <a:ea typeface="Inter Italics"/>
                <a:cs typeface="Inter Italics"/>
                <a:sym typeface="Inter Italics"/>
              </a:rPr>
              <a:t>Lycée Sheikh Amoud, In-ame</a:t>
            </a:r>
            <a:r>
              <a:rPr lang="en-US" sz="1034" i="1" u="none" strike="noStrike">
                <a:solidFill>
                  <a:srgbClr val="1E1E1E"/>
                </a:solidFill>
                <a:latin typeface="Inter Italics"/>
                <a:ea typeface="Inter Italics"/>
                <a:cs typeface="Inter Italics"/>
                <a:sym typeface="Inter Italics"/>
              </a:rPr>
              <a:t>nas, Algérie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49356" y="4337746"/>
            <a:ext cx="6265333" cy="0"/>
          </a:xfrm>
          <a:prstGeom prst="line">
            <a:avLst/>
          </a:prstGeom>
          <a:ln w="9525" cap="rnd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CA"/>
          </a:p>
        </p:txBody>
      </p:sp>
      <p:sp>
        <p:nvSpPr>
          <p:cNvPr id="3" name="AutoShape 3"/>
          <p:cNvSpPr/>
          <p:nvPr/>
        </p:nvSpPr>
        <p:spPr>
          <a:xfrm>
            <a:off x="783073" y="2395639"/>
            <a:ext cx="6265333" cy="0"/>
          </a:xfrm>
          <a:prstGeom prst="line">
            <a:avLst/>
          </a:prstGeom>
          <a:ln w="9525" cap="rnd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CA"/>
          </a:p>
        </p:txBody>
      </p:sp>
      <p:sp>
        <p:nvSpPr>
          <p:cNvPr id="4" name="AutoShape 4"/>
          <p:cNvSpPr/>
          <p:nvPr/>
        </p:nvSpPr>
        <p:spPr>
          <a:xfrm>
            <a:off x="753533" y="632254"/>
            <a:ext cx="6265333" cy="0"/>
          </a:xfrm>
          <a:prstGeom prst="line">
            <a:avLst/>
          </a:prstGeom>
          <a:ln w="9525" cap="rnd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CA"/>
          </a:p>
        </p:txBody>
      </p:sp>
      <p:sp>
        <p:nvSpPr>
          <p:cNvPr id="5" name="Freeform 5"/>
          <p:cNvSpPr/>
          <p:nvPr/>
        </p:nvSpPr>
        <p:spPr>
          <a:xfrm>
            <a:off x="6168023" y="8243689"/>
            <a:ext cx="1393289" cy="1433926"/>
          </a:xfrm>
          <a:custGeom>
            <a:avLst/>
            <a:gdLst/>
            <a:ahLst/>
            <a:cxnLst/>
            <a:rect l="l" t="t" r="r" b="b"/>
            <a:pathLst>
              <a:path w="1393289" h="1433926">
                <a:moveTo>
                  <a:pt x="0" y="0"/>
                </a:moveTo>
                <a:lnTo>
                  <a:pt x="1393289" y="0"/>
                </a:lnTo>
                <a:lnTo>
                  <a:pt x="1393289" y="1433927"/>
                </a:lnTo>
                <a:lnTo>
                  <a:pt x="0" y="14339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CA"/>
          </a:p>
        </p:txBody>
      </p:sp>
      <p:sp>
        <p:nvSpPr>
          <p:cNvPr id="6" name="TextBox 6"/>
          <p:cNvSpPr txBox="1"/>
          <p:nvPr/>
        </p:nvSpPr>
        <p:spPr>
          <a:xfrm>
            <a:off x="5321356" y="4387692"/>
            <a:ext cx="1693333" cy="166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08"/>
              </a:lnSpc>
              <a:spcBef>
                <a:spcPct val="0"/>
              </a:spcBef>
            </a:pPr>
            <a:r>
              <a:rPr lang="en-US" sz="934" b="1" dirty="0" err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juill</a:t>
            </a:r>
            <a:r>
              <a:rPr lang="en-US" sz="934" b="1" dirty="0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2024 - sept 2024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6215" y="4376375"/>
            <a:ext cx="4216475" cy="181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8"/>
              </a:lnSpc>
              <a:spcBef>
                <a:spcPct val="0"/>
              </a:spcBef>
            </a:pPr>
            <a:r>
              <a:rPr lang="en-US" sz="1034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ASP Construction (Santé &amp; Sécurité)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6215" y="4557378"/>
            <a:ext cx="5977542" cy="166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8"/>
              </a:lnSpc>
            </a:pPr>
            <a:r>
              <a:rPr lang="en-US" sz="934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Centre Polymétier, Rouyn-Noranda, Canada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240" y="4112022"/>
            <a:ext cx="6237450" cy="197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0"/>
              </a:lnSpc>
              <a:spcBef>
                <a:spcPct val="0"/>
              </a:spcBef>
            </a:pPr>
            <a:r>
              <a:rPr lang="en-US" sz="1128" b="1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CERTIFICATS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6215" y="2434269"/>
            <a:ext cx="4233333" cy="181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8"/>
              </a:lnSpc>
              <a:spcBef>
                <a:spcPct val="0"/>
              </a:spcBef>
            </a:pPr>
            <a:r>
              <a:rPr lang="en-US" sz="1034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TAHFIDZ - Plateforme SaaS de gestion d'écoles coraniques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6215" y="2615272"/>
            <a:ext cx="5994400" cy="166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8"/>
              </a:lnSpc>
              <a:spcBef>
                <a:spcPct val="0"/>
              </a:spcBef>
            </a:pPr>
            <a:r>
              <a:rPr lang="en-US" sz="934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Système  multi-utilisateurs  avec  suivi  de  mémorisation, évaluations, présences et notifications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3073" y="2169916"/>
            <a:ext cx="832232" cy="197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0"/>
              </a:lnSpc>
              <a:spcBef>
                <a:spcPct val="0"/>
              </a:spcBef>
            </a:pPr>
            <a:r>
              <a:rPr lang="en-US" sz="1128" b="1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PROJETS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3533" y="406530"/>
            <a:ext cx="6265333" cy="197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0"/>
              </a:lnSpc>
              <a:spcBef>
                <a:spcPct val="0"/>
              </a:spcBef>
            </a:pPr>
            <a:r>
              <a:rPr lang="en-US" sz="1128" b="1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COMPÉTENCES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3533" y="917268"/>
            <a:ext cx="1817380" cy="976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6"/>
              </a:lnSpc>
              <a:spcBef>
                <a:spcPct val="0"/>
              </a:spcBef>
            </a:pPr>
            <a:r>
              <a:rPr lang="en-US" sz="93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Génie Électrique, Électromécanique, Maintenance Industrielle,Instrumentation &amp; Systèmes Embarqués, Automatisation,  Câblage Industriel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02820" y="917268"/>
            <a:ext cx="2149902" cy="49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6"/>
              </a:lnSpc>
              <a:spcBef>
                <a:spcPct val="0"/>
              </a:spcBef>
            </a:pPr>
            <a:r>
              <a:rPr lang="en-US" sz="93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Next.js, React, TypeScript, Prisma, PostgreSQL, Tailwind CSS, Node.js, GitHub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43764" y="917268"/>
            <a:ext cx="1958244" cy="49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6"/>
              </a:lnSpc>
              <a:spcBef>
                <a:spcPct val="0"/>
              </a:spcBef>
            </a:pPr>
            <a:r>
              <a:rPr lang="en-US" sz="93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Code québécois de l'électricité (CQE), Canadian Electrical Code (CEC), NFPA 70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36916" y="1551087"/>
            <a:ext cx="1958244" cy="328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6"/>
              </a:lnSpc>
              <a:spcBef>
                <a:spcPct val="0"/>
              </a:spcBef>
            </a:pPr>
            <a:r>
              <a:rPr lang="en-US" sz="93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Proteus 8, SolidWorks, MATLAB, AutoCAD, Excel avancé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6215" y="724742"/>
            <a:ext cx="627017" cy="166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6"/>
              </a:lnSpc>
              <a:spcBef>
                <a:spcPct val="0"/>
              </a:spcBef>
            </a:pPr>
            <a:r>
              <a:rPr lang="en-US" sz="933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Électrique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02820" y="724742"/>
            <a:ext cx="627017" cy="166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6"/>
              </a:lnSpc>
              <a:spcBef>
                <a:spcPct val="0"/>
              </a:spcBef>
            </a:pPr>
            <a:r>
              <a:rPr lang="en-US" sz="933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Web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42686" y="1379341"/>
            <a:ext cx="627017" cy="166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6"/>
              </a:lnSpc>
              <a:spcBef>
                <a:spcPct val="0"/>
              </a:spcBef>
            </a:pPr>
            <a:r>
              <a:rPr lang="en-US" sz="933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Logiciel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36916" y="724742"/>
            <a:ext cx="627017" cy="166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6"/>
              </a:lnSpc>
              <a:spcBef>
                <a:spcPct val="0"/>
              </a:spcBef>
            </a:pPr>
            <a:r>
              <a:rPr lang="en-US" sz="933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Normes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02820" y="1551087"/>
            <a:ext cx="2149902" cy="328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6"/>
              </a:lnSpc>
              <a:spcBef>
                <a:spcPct val="0"/>
              </a:spcBef>
            </a:pPr>
            <a:r>
              <a:rPr lang="en-US" sz="93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Autonomie, Leadership, Rigueur,  Travail d'équipe, Gestion de projet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02820" y="1391192"/>
            <a:ext cx="627017" cy="166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6"/>
              </a:lnSpc>
              <a:spcBef>
                <a:spcPct val="0"/>
              </a:spcBef>
            </a:pPr>
            <a:r>
              <a:rPr lang="en-US" sz="933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Soft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6215" y="3020152"/>
            <a:ext cx="4233333" cy="181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8"/>
              </a:lnSpc>
              <a:spcBef>
                <a:spcPct val="0"/>
              </a:spcBef>
            </a:pPr>
            <a:r>
              <a:rPr lang="en-US" sz="1034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CCI Montmagny -Site web communautaire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8615" y="3358885"/>
            <a:ext cx="5994400" cy="166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8"/>
              </a:lnSpc>
              <a:spcBef>
                <a:spcPct val="0"/>
              </a:spcBef>
            </a:pPr>
            <a:r>
              <a:rPr lang="en-US" sz="934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https://mosquee-cci-montmagny.vercel.app/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8615" y="2767672"/>
            <a:ext cx="5994400" cy="166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8"/>
              </a:lnSpc>
            </a:pPr>
            <a:r>
              <a:rPr lang="en-US" sz="934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https://tahfidz-two.vercel.app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83073" y="3211179"/>
            <a:ext cx="5994400" cy="166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8"/>
              </a:lnSpc>
              <a:spcBef>
                <a:spcPct val="0"/>
              </a:spcBef>
            </a:pPr>
            <a:r>
              <a:rPr lang="en-US" sz="934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Site vitrine pour le Centre Culturel Islamique de Montmagny, livré et en production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7240" y="3611365"/>
            <a:ext cx="4233333" cy="181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8"/>
              </a:lnSpc>
              <a:spcBef>
                <a:spcPct val="0"/>
              </a:spcBef>
            </a:pPr>
            <a:r>
              <a:rPr lang="en-US" sz="1034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Radar Avancé - Projet de fin d’études UQAT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4098" y="3802392"/>
            <a:ext cx="6414684" cy="166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8"/>
              </a:lnSpc>
              <a:spcBef>
                <a:spcPct val="0"/>
              </a:spcBef>
            </a:pPr>
            <a:r>
              <a:rPr lang="en-US" sz="934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Système intelligent de surveillance minère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168023" y="9649041"/>
            <a:ext cx="1393575" cy="148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83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3" tooltip="https://abdenour-hellas.online"/>
              </a:rPr>
              <a:t>https://abdenour-hellas.online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7240" y="5711926"/>
            <a:ext cx="4422428" cy="408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**Admission en cours à l'Ordre des ingénieurs du Québec**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Processus de Qualification Professionnelle Initié-</a:t>
            </a:r>
          </a:p>
        </p:txBody>
      </p:sp>
      <p:sp>
        <p:nvSpPr>
          <p:cNvPr id="32" name="AutoShape 32"/>
          <p:cNvSpPr/>
          <p:nvPr/>
        </p:nvSpPr>
        <p:spPr>
          <a:xfrm>
            <a:off x="749356" y="5035583"/>
            <a:ext cx="6265333" cy="0"/>
          </a:xfrm>
          <a:prstGeom prst="line">
            <a:avLst/>
          </a:prstGeom>
          <a:ln w="9525" cap="rnd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CA"/>
          </a:p>
        </p:txBody>
      </p:sp>
      <p:sp>
        <p:nvSpPr>
          <p:cNvPr id="33" name="TextBox 33"/>
          <p:cNvSpPr txBox="1"/>
          <p:nvPr/>
        </p:nvSpPr>
        <p:spPr>
          <a:xfrm>
            <a:off x="766215" y="5078445"/>
            <a:ext cx="5977542" cy="490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8"/>
              </a:lnSpc>
            </a:pPr>
            <a:r>
              <a:rPr lang="en-US" sz="934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Arabe- Natif</a:t>
            </a:r>
          </a:p>
          <a:p>
            <a:pPr algn="l">
              <a:lnSpc>
                <a:spcPts val="1308"/>
              </a:lnSpc>
            </a:pPr>
            <a:r>
              <a:rPr lang="en-US" sz="934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Français —Courant</a:t>
            </a:r>
          </a:p>
          <a:p>
            <a:pPr algn="l">
              <a:lnSpc>
                <a:spcPts val="1308"/>
              </a:lnSpc>
            </a:pPr>
            <a:r>
              <a:rPr lang="en-US" sz="934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Anglais — Professionnel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7240" y="4809859"/>
            <a:ext cx="6237450" cy="197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0"/>
              </a:lnSpc>
              <a:spcBef>
                <a:spcPct val="0"/>
              </a:spcBef>
            </a:pPr>
            <a:r>
              <a:rPr lang="en-US" sz="1128" b="1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LANGUES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560</Words>
  <Application>Microsoft Office PowerPoint</Application>
  <PresentationFormat>Personnalisé</PresentationFormat>
  <Paragraphs>78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10" baseType="lpstr">
      <vt:lpstr>Inter Bold</vt:lpstr>
      <vt:lpstr>Inter Italics</vt:lpstr>
      <vt:lpstr>Arial</vt:lpstr>
      <vt:lpstr>Inter Semi-Bold</vt:lpstr>
      <vt:lpstr>Calibri</vt:lpstr>
      <vt:lpstr>Inter</vt:lpstr>
      <vt:lpstr>Arimo</vt:lpstr>
      <vt:lpstr>Office Theme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ABDENOUR_HELLAS_CV</dc:title>
  <cp:lastModifiedBy>abdenour hellas</cp:lastModifiedBy>
  <cp:revision>2</cp:revision>
  <dcterms:created xsi:type="dcterms:W3CDTF">2006-08-16T00:00:00Z</dcterms:created>
  <dcterms:modified xsi:type="dcterms:W3CDTF">2026-07-23T12:10:10Z</dcterms:modified>
  <dc:identifier>DAHOowKR3Dk</dc:identifier>
</cp:coreProperties>
</file>